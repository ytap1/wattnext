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16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59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 month millions open a spiked utility bill and their only option is a call-center queue. WattNext acts. This is a live demo, not a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Billing is 56% of utility complaints — the biggest, most expensive category. Systems are data-rich but decision-poor. WattNext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detects the shock, decides the fix with one real AI call, delivers a completed action — a different resolution per customer. Let me show you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app. Run Maria (assistance, accept). Run James (different route — budget billing), then Decline to show the human handoff. Point at the LIVE GEMINI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agent, different customer, different route — that's real per-customer reasoning, the differentiator.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Genuinely autonomous but safe: one real call decides, guardrails stop it inventing a route or acting without consent, everything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call costs $6-12; a WattNext resolution costs cents — 100 to 800x. For a 1M-account utility, conservatively $1.6M a year. Numbers sit at the low-mid of published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Routes are config not code, so it scales for free. Sensitivity range shows even the conservative case is compelling.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WattNext turns a bill-shock moment into a resolved outcome. We're asking for your investment to take it from two customers to two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3291840" cy="32918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5669280"/>
            <a:ext cx="1645920" cy="164592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AGENTIC AI HACKATHON 2026   ·   SONG / CX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</a:t>
            </a:r>
            <a:r>
              <a:rPr sz="9600" b="1">
                <a:solidFill>
                  <a:srgbClr val="22D3EE"/>
                </a:solidFill>
                <a:latin typeface="Calibri"/>
              </a:rPr>
              <a:t>Next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Bill Shock</a:t>
            </a: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 Decide.  Deliver.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1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</a:t>
            </a:r>
            <a:r>
              <a:rPr lang="en-US" sz="16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wattnext-ai.streamlit.app</a:t>
            </a:r>
            <a:endParaRPr lang="en-US" sz="1600" dirty="0"/>
          </a:p>
        </p:txBody>
      </p:sp>
      <p:pic>
        <p:nvPicPr>
          <p:cNvPr id="9" name="Picture 8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1188720"/>
            <a:ext cx="2194560" cy="1488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shock has nowhere to go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utility complaints are about billing — the #1 category, more than all others combined.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Tridens,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1828800"/>
            <a:ext cx="56692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89320" y="228600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spike hits — </a:t>
            </a:r>
            <a:r>
              <a:rPr lang="en-US" sz="16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waits in a call-center queue for answers.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9320" y="333756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31546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High-bill calls are the costliest — </a:t>
            </a:r>
            <a:r>
              <a:rPr lang="en-US" sz="16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multi-system investigations, the most staff-heavy contacts.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9320" y="438912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4206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Data-rich, decision-poor — </a:t>
            </a:r>
            <a:r>
              <a:rPr lang="en-US" sz="16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systems report the problem — they don't resolve it.</a:t>
            </a:r>
            <a:endParaRPr lang="en-US" sz="1600" dirty="0"/>
          </a:p>
        </p:txBody>
      </p:sp>
      <p:pic>
        <p:nvPicPr>
          <p:cNvPr id="13" name="Picture 12" descr="mark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acts — not just answers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228600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4300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886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spike from usage data — a spike is an alert, not a diagnosis.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228600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463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3886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bill is right, then picks one of five routes.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49640" y="228600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964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4964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49640" y="3886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action — with the customer's consent.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resolution </a:t>
            </a:r>
            <a:r>
              <a:rPr lang="en-US" sz="22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customer.</a:t>
            </a:r>
            <a:endParaRPr lang="en-US" sz="2200" dirty="0"/>
          </a:p>
        </p:txBody>
      </p:sp>
      <p:pic>
        <p:nvPicPr>
          <p:cNvPr id="19" name="Picture 18" descr="mark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Five vetted routes — one safety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Bill Review &amp; Correction</a:t>
            </a:r>
            <a:r>
              <a:rPr sz="1600">
                <a:solidFill>
                  <a:srgbClr val="CBD5E1"/>
                </a:solidFill>
                <a:latin typeface="Calibri"/>
              </a:rPr>
              <a:t>   —  Is the bill even right? Estimated-to-actual, wrong rate, meter error — checked first.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Payment Flexibility</a:t>
            </a:r>
            <a:r>
              <a:rPr sz="1600">
                <a:solidFill>
                  <a:srgbClr val="CBD5E1"/>
                </a:solidFill>
                <a:latin typeface="Calibri"/>
              </a:rPr>
              <a:t>   —  Valid bill, needs time — due-date extension or an installment plan.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Assistance Qualification</a:t>
            </a:r>
            <a:r>
              <a:rPr sz="1600">
                <a:solidFill>
                  <a:srgbClr val="CBD5E1"/>
                </a:solidFill>
                <a:latin typeface="Calibri"/>
              </a:rPr>
              <a:t>   —  Pre-screen and prepare aid applications; the agency decides eligibility — no false promises.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Budget Billing</a:t>
            </a:r>
            <a:r>
              <a:rPr sz="1600">
                <a:solidFill>
                  <a:srgbClr val="CBD5E1"/>
                </a:solidFill>
                <a:latin typeface="Calibri"/>
              </a:rPr>
              <a:t>   —  Smooth seasonal swings into a level monthly amount (not debt relief).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Lower Future Bills</a:t>
            </a:r>
            <a:r>
              <a:rPr sz="1600">
                <a:solidFill>
                  <a:srgbClr val="CBD5E1"/>
                </a:solidFill>
                <a:latin typeface="Calibri"/>
              </a:rPr>
              <a:t>   —  Rate/plan review + efficiency and rebates to cut the root cause.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AA7B4"/>
                </a:solidFill>
                <a:latin typeface="Calibri"/>
              </a:rPr>
              <a:t>Human handoff wraps all five — for safety, disputed bills, and eligibility-sensitive cases.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3291840" cy="32918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5669280"/>
            <a:ext cx="1645920" cy="164592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841248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Gemini reasoning, streamed live.   Dwayne → Bill Review  ·  Maria → Assistance  ·  Earl → Human handoff</a:t>
            </a:r>
            <a:endParaRPr lang="en-US" sz="1600" dirty="0"/>
          </a:p>
        </p:txBody>
      </p:sp>
      <p:pic>
        <p:nvPicPr>
          <p:cNvPr id="7" name="Picture 6" descr="mark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agent. Different route.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074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Dwayne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+85%  ·  estimated-then-actual read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Bill Review — verify first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074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2940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 ·  medical  ·  bill valid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Assistance Qualification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verify the bill before we treat it — a different outcome per customer.</a:t>
            </a:r>
            <a:endParaRPr lang="en-US" sz="2200" dirty="0"/>
          </a:p>
        </p:txBody>
      </p:sp>
      <p:pic>
        <p:nvPicPr>
          <p:cNvPr id="14" name="Picture 13" descr="mark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and safe by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208483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74520" y="182880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AI call, wrapped in rules   </a:t>
            </a:r>
            <a:r>
              <a:rPr lang="en-US" sz="18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diagnoses &amp; recommends — safety and eligibility never depend on the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318211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29260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vetted routes + human handoff   </a:t>
            </a:r>
            <a:r>
              <a:rPr lang="en-US" sz="18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like imminent shutoff or medical risk escalate to a person, automatically.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3000" y="427939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40233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authorize every action   </a:t>
            </a:r>
            <a:r>
              <a:rPr lang="en-US" sz="18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WattNext prepares and forecasts the outcome; nothing changes without explicit consent.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43000" y="537667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74520" y="51206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  </a:t>
            </a:r>
            <a:r>
              <a:rPr lang="en-US" sz="18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check, recommendation, consent and action is logged.</a:t>
            </a:r>
            <a:endParaRPr lang="en-US" sz="1800" dirty="0"/>
          </a:p>
        </p:txBody>
      </p:sp>
      <p:pic>
        <p:nvPicPr>
          <p:cNvPr id="15" name="Picture 14" descr="mark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3291840" cy="32918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5669280"/>
            <a:ext cx="1645920" cy="164592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to decide. Dollars to ignore.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100–800×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 per deflected call — an agent handles a bill-shock call for $6–$12; WattNext resolves it for cents of AI inference.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0" y="1828800"/>
            <a:ext cx="4297680" cy="3291840"/>
          </a:xfrm>
          <a:prstGeom prst="roundRect">
            <a:avLst>
              <a:gd name="adj" fmla="val 3333"/>
            </a:avLst>
          </a:prstGeom>
          <a:solidFill>
            <a:srgbClr val="1B2430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0" y="2194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~$1.6M / year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1,000,000 accounts (base case)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 </a:t>
            </a: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contacts × 40% deflected × $8/call.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Anchors: $6.47 avg call · 30–60% AI deflection (Gitnux, 2026)</a:t>
            </a:r>
            <a:endParaRPr lang="en-US" sz="1100" dirty="0"/>
          </a:p>
        </p:txBody>
      </p:sp>
      <p:pic>
        <p:nvPicPr>
          <p:cNvPr id="12" name="Picture 11" descr="mark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0" y="208483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74520" y="178308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configuration, not per-customer code.   </a:t>
            </a:r>
            <a:r>
              <a:rPr lang="en-US" sz="18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resolution path once — every customer can reach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331927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301752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— any customer, any utility.   </a:t>
            </a:r>
            <a:r>
              <a:rPr lang="en-US" sz="18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generalizes; only the inputs change.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$0.97M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· per 1M accts / yr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4434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22D3EE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46177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2628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per 1M accts / yr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4434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14300" dist="38100" dir="5400000" algn="bl" rotWithShape="0">
              <a:srgbClr val="9AA7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46177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· per 1M accts / yr</a:t>
            </a:r>
            <a:endParaRPr lang="en-US" sz="1200" dirty="0"/>
          </a:p>
        </p:txBody>
      </p:sp>
      <p:pic>
        <p:nvPicPr>
          <p:cNvPr id="18" name="Picture 17" descr="mark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866120" y="292608"/>
            <a:ext cx="960120" cy="6510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3291840" cy="32918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5669280"/>
            <a:ext cx="1645920" cy="164592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customers to two million.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41248" y="3566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WattNext turns bill shock into a resolved outcome — faster for customers, cheaper for utilities, safe by design.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4572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r>
              <a:rPr lang="en-US" sz="2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to help us scale 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wattnext-ai.streamlit.app</a:t>
            </a:r>
            <a:endParaRPr lang="en-US" sz="1600" dirty="0"/>
          </a:p>
        </p:txBody>
      </p:sp>
      <p:pic>
        <p:nvPicPr>
          <p:cNvPr id="8" name="Picture 7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160" y="365760"/>
            <a:ext cx="1737360" cy="1178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22D3E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719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WattNext — The Kill Bill Shock Agent</dc:title>
  <dc:subject>PptxGenJS Presentation</dc:subject>
  <dc:creator>WattNext</dc:creator>
  <cp:lastModifiedBy>Tacata, Christopher V.</cp:lastModifiedBy>
  <cp:revision>2</cp:revision>
  <dcterms:created xsi:type="dcterms:W3CDTF">2026-08-23T09:31:47Z</dcterms:created>
  <dcterms:modified xsi:type="dcterms:W3CDTF">2026-08-26T10:14:31Z</dcterms:modified>
</cp:coreProperties>
</file>